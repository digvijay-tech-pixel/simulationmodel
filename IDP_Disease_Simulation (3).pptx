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3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59f209faf544bb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59f209faf544bb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59f209faf544bb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0" name="Google Shape;27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1" name="Google Shape;27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4" name="Google Shape;27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7" name="Google Shape;27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8" name="Google Shape;27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1" name="Google Shape;28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2" name="Google Shape;28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3" name="Google Shape;28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9" name="Google Shape;28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0" name="Google Shape;29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3" name="Google Shape;29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7" name="Google Shape;29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8" name="Google Shape;298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02" name="Google Shape;30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5" name="Google Shape;30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6" name="Google Shape;30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7" name="Google Shape;26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"/>
          <p:cNvSpPr/>
          <p:nvPr/>
        </p:nvSpPr>
        <p:spPr>
          <a:xfrm>
            <a:off x="0" y="0"/>
            <a:ext cx="31089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2926080" y="0"/>
            <a:ext cx="10980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3" name="Google Shape;3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45720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4"/>
          <p:cNvSpPr/>
          <p:nvPr/>
        </p:nvSpPr>
        <p:spPr>
          <a:xfrm>
            <a:off x="274320" y="4389120"/>
            <a:ext cx="164700" cy="16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621792" y="4389120"/>
            <a:ext cx="164700" cy="16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969264" y="4389120"/>
            <a:ext cx="164700" cy="16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1316736" y="4389120"/>
            <a:ext cx="164700" cy="16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1664208" y="4389120"/>
            <a:ext cx="164700" cy="16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2011680" y="4389120"/>
            <a:ext cx="164700" cy="164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0" name="Google Shape;32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8346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4"/>
          <p:cNvSpPr/>
          <p:nvPr/>
        </p:nvSpPr>
        <p:spPr>
          <a:xfrm>
            <a:off x="3291840" y="347472"/>
            <a:ext cx="5577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Disease Spread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291840" y="969264"/>
            <a:ext cx="5577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Simulation Platform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3291840" y="1645920"/>
            <a:ext cx="5577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C4E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0C4E0"/>
                </a:solidFill>
                <a:latin typeface="Calibri"/>
                <a:ea typeface="Calibri"/>
                <a:cs typeface="Calibri"/>
                <a:sym typeface="Calibri"/>
              </a:rPr>
              <a:t>using Mathematical Modeling &amp; Web Technology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3291840" y="2249424"/>
            <a:ext cx="5303400" cy="36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3291850" y="2286025"/>
            <a:ext cx="55779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Presented by:  </a:t>
            </a:r>
            <a:r>
              <a:rPr b="0" i="0" lang="en-US" sz="1200" u="none" cap="none" strike="noStrike">
                <a:solidFill>
                  <a:srgbClr val="C0D8EF"/>
                </a:solidFill>
                <a:latin typeface="Calibri"/>
                <a:ea typeface="Calibri"/>
                <a:cs typeface="Calibri"/>
                <a:sym typeface="Calibri"/>
              </a:rPr>
              <a:t>Pratap Veera Sai Pranav(1TD25CS209)</a:t>
            </a:r>
            <a:endParaRPr b="0" i="0" sz="1200" u="none" cap="none" strike="noStrike">
              <a:solidFill>
                <a:srgbClr val="C0D8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D8E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Varanasi Harshith(1BY25CS326)</a:t>
            </a:r>
            <a:endParaRPr b="0" i="0" sz="1200" u="none" cap="none" strike="noStrike">
              <a:solidFill>
                <a:srgbClr val="C0D8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D8E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Digvijay Patil(1BY25CS217)</a:t>
            </a:r>
            <a:endParaRPr b="0" i="0" sz="1200" u="none" cap="none" strike="noStrike">
              <a:solidFill>
                <a:srgbClr val="C0D8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D8E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Aditya K R(1BY25CS024)</a:t>
            </a:r>
            <a:endParaRPr b="0" i="0" sz="1200" u="none" cap="none" strike="noStrike">
              <a:solidFill>
                <a:srgbClr val="C0D8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3291850" y="3131821"/>
            <a:ext cx="557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Guide:  </a:t>
            </a:r>
            <a:r>
              <a:rPr b="0" i="0" lang="en-US" sz="1200" u="none" cap="none" strike="noStrike">
                <a:solidFill>
                  <a:srgbClr val="C0D8EF"/>
                </a:solidFill>
                <a:latin typeface="Calibri"/>
                <a:ea typeface="Calibri"/>
                <a:cs typeface="Calibri"/>
                <a:sym typeface="Calibri"/>
              </a:rPr>
              <a:t>Dr.Saroj Revankar,Assistant Professor(Dept. of Mathematics)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3291850" y="3410575"/>
            <a:ext cx="5577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C4E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A0C4E0"/>
                </a:solidFill>
                <a:latin typeface="Calibri"/>
                <a:ea typeface="Calibri"/>
                <a:cs typeface="Calibri"/>
                <a:sym typeface="Calibri"/>
              </a:rPr>
              <a:t>Dept. of Computer Science &amp; Engineering  |  Academic Year: 2025–26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3291840" y="3703320"/>
            <a:ext cx="2011800" cy="4755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3233053" y="3762670"/>
            <a:ext cx="2011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Interdisciplinary Project (IDP)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3291840" y="4343400"/>
            <a:ext cx="557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809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BMSIT&amp;M, Bengaluru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411480" y="201168"/>
            <a:ext cx="841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411480" y="822960"/>
            <a:ext cx="8412600" cy="36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411480" y="1024128"/>
            <a:ext cx="1993500" cy="331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3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11480" y="1024128"/>
            <a:ext cx="1993500" cy="2559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7" name="Google Shape;3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371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5"/>
          <p:cNvSpPr/>
          <p:nvPr/>
        </p:nvSpPr>
        <p:spPr>
          <a:xfrm>
            <a:off x="484632" y="1938528"/>
            <a:ext cx="1847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Rapid Spread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502920" y="2359152"/>
            <a:ext cx="1810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Infectious diseases can spread exponentially through populations, overwhelming health systems within weeks.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2560320" y="1024128"/>
            <a:ext cx="1993500" cy="331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3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2560320" y="1024128"/>
            <a:ext cx="1993500" cy="255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2" name="Google Shape;3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1371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5"/>
          <p:cNvSpPr/>
          <p:nvPr/>
        </p:nvSpPr>
        <p:spPr>
          <a:xfrm>
            <a:off x="2633472" y="1938528"/>
            <a:ext cx="1847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Prediction Gap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2651760" y="2359152"/>
            <a:ext cx="1810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Without simulation tools, health planners cannot foresee how an outbreak will grow or peak over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4709160" y="1024128"/>
            <a:ext cx="1993500" cy="331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3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4709160" y="1024128"/>
            <a:ext cx="1993500" cy="255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7" name="Google Shape;34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680" y="1371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5"/>
          <p:cNvSpPr/>
          <p:nvPr/>
        </p:nvSpPr>
        <p:spPr>
          <a:xfrm>
            <a:off x="4782312" y="1938528"/>
            <a:ext cx="1847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Diverse Diseases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4800600" y="2359152"/>
            <a:ext cx="1810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COVID-19, Influenza, Dengue, and Malaria spread via different mechanisms — airborne, contact, and vector-borne.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6858000" y="1024128"/>
            <a:ext cx="1993500" cy="331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3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6858000" y="1024128"/>
            <a:ext cx="1993500" cy="255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2" name="Google Shape;35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9520" y="1371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5"/>
          <p:cNvSpPr/>
          <p:nvPr/>
        </p:nvSpPr>
        <p:spPr>
          <a:xfrm>
            <a:off x="6931152" y="1938528"/>
            <a:ext cx="1847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Need for Awareness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6949440" y="2359152"/>
            <a:ext cx="1810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Communities and students require interactive, visual tools to understand disease dynamics and prevention strategies.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411480" y="4498848"/>
            <a:ext cx="8412600" cy="502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02920" y="4498848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Key Insight:  Simulation-based platforms bridge the gap between raw data and real-world outbreak understanding — enabling better awareness, planning, and preparedness.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"/>
          <p:cNvSpPr/>
          <p:nvPr/>
        </p:nvSpPr>
        <p:spPr>
          <a:xfrm>
            <a:off x="5760720" y="0"/>
            <a:ext cx="33834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320040" y="256032"/>
            <a:ext cx="51207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Makes This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320040" y="731520"/>
            <a:ext cx="51207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Project Innovative?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320040" y="1399032"/>
            <a:ext cx="347400" cy="34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2" name="Google Shape;3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1408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6"/>
          <p:cNvSpPr/>
          <p:nvPr/>
        </p:nvSpPr>
        <p:spPr>
          <a:xfrm>
            <a:off x="804672" y="1371600"/>
            <a:ext cx="466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Multi-Disease Support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804672" y="1645920"/>
            <a:ext cx="466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Simulates COVID-19, Influenza, Dengue &amp; Malaria with disease-specific parameters.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320040" y="2075688"/>
            <a:ext cx="347400" cy="34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6" name="Google Shape;3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" y="20848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6"/>
          <p:cNvSpPr/>
          <p:nvPr/>
        </p:nvSpPr>
        <p:spPr>
          <a:xfrm>
            <a:off x="804672" y="2048256"/>
            <a:ext cx="466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Graph Updates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804672" y="2322576"/>
            <a:ext cx="466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Dynamic SIR curves update day-by-day showing Susceptible, Infected &amp; Recovered trends.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320040" y="2752344"/>
            <a:ext cx="347400" cy="34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0" name="Google Shape;37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472" y="27614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6"/>
          <p:cNvSpPr/>
          <p:nvPr/>
        </p:nvSpPr>
        <p:spPr>
          <a:xfrm>
            <a:off x="804672" y="2724912"/>
            <a:ext cx="466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Geo-Map Visualization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804672" y="2999232"/>
            <a:ext cx="466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Heat-map overlays display how disease spreads across geographic regions.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320040" y="3429000"/>
            <a:ext cx="347400" cy="34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4" name="Google Shape;37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7472" y="34381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6"/>
          <p:cNvSpPr/>
          <p:nvPr/>
        </p:nvSpPr>
        <p:spPr>
          <a:xfrm>
            <a:off x="804672" y="3401568"/>
            <a:ext cx="466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Chatbot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804672" y="3675888"/>
            <a:ext cx="466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Users can query disease symptoms, prevention tips, and outbreak data in real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320040" y="4105656"/>
            <a:ext cx="347400" cy="34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8" name="Google Shape;37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7472" y="41148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6"/>
          <p:cNvSpPr/>
          <p:nvPr/>
        </p:nvSpPr>
        <p:spPr>
          <a:xfrm>
            <a:off x="804672" y="4078224"/>
            <a:ext cx="466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Customizable Parameters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804672" y="4352544"/>
            <a:ext cx="466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Infection rate, recovery rate, and population size are fully adjustable by the user.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5943600" y="228600"/>
            <a:ext cx="3017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Expansion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5989320" y="1207008"/>
            <a:ext cx="201300" cy="20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6291072" y="1170432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Machine Learning-based outbreak forecasting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5989320" y="1920240"/>
            <a:ext cx="201300" cy="20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6291072" y="1883664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Real-time integration with WHO / CDC data feeds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5989320" y="2633472"/>
            <a:ext cx="201300" cy="20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6291072" y="2596896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More diseases: Ebola, Cholera, Zika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5989320" y="3346704"/>
            <a:ext cx="201300" cy="20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6291072" y="3310128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Mobile-responsive progressive web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5989320" y="4059936"/>
            <a:ext cx="201300" cy="20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6291072" y="4023360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Multi-region simultaneous simulation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411480" y="201168"/>
            <a:ext cx="841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Interdisciplinary Aspect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411480" y="822960"/>
            <a:ext cx="8412600" cy="36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411480" y="877824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This project unifies four academic disciplines into a single, cohesive platform.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411480" y="1325880"/>
            <a:ext cx="4005000" cy="162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3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411480" y="1325880"/>
            <a:ext cx="201300" cy="1627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731520" y="1554480"/>
            <a:ext cx="658500" cy="65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0" name="Google Shape;4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" y="159105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7"/>
          <p:cNvSpPr/>
          <p:nvPr/>
        </p:nvSpPr>
        <p:spPr>
          <a:xfrm>
            <a:off x="1527048" y="1490472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Mathematics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1527048" y="1874520"/>
            <a:ext cx="2788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SIR / SEIR Differential Equations  ·  Beta (β) &amp; Gamma (γ) rate parameters  ·  Exponential growth &amp; decay modeling  ·  Graph-theoretic network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4663440" y="1325880"/>
            <a:ext cx="4005000" cy="162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3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4663440" y="1325880"/>
            <a:ext cx="201300" cy="1627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4983480" y="1554480"/>
            <a:ext cx="658500" cy="65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6" name="Google Shape;4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0056" y="159105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7"/>
          <p:cNvSpPr/>
          <p:nvPr/>
        </p:nvSpPr>
        <p:spPr>
          <a:xfrm>
            <a:off x="5779008" y="1490472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Computer Science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5779008" y="1874520"/>
            <a:ext cx="2788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Full-stack web application (React + Node)  ·  Real-time data processing &amp; rendering  ·  REST API design &amp; state management  ·  Interactive UI/UX with animation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411480" y="3090672"/>
            <a:ext cx="4005000" cy="162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3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411480" y="3090672"/>
            <a:ext cx="201300" cy="1627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731520" y="3319272"/>
            <a:ext cx="658500" cy="65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2" name="Google Shape;41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096" y="3355848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7"/>
          <p:cNvSpPr/>
          <p:nvPr/>
        </p:nvSpPr>
        <p:spPr>
          <a:xfrm>
            <a:off x="1527048" y="3255264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Health Science &amp; Biology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1527048" y="3639312"/>
            <a:ext cx="2788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Airborne: COVID-19, Influenza  ·  Vector-borne: Dengue, Malaria  ·  R₀ (Basic Reproduction Number)  ·  Herd immunity thresholds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4663440" y="3090672"/>
            <a:ext cx="4005000" cy="162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3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4663440" y="3090672"/>
            <a:ext cx="201300" cy="162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4983480" y="3319272"/>
            <a:ext cx="658500" cy="65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8" name="Google Shape;41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0056" y="3355848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7"/>
          <p:cNvSpPr/>
          <p:nvPr/>
        </p:nvSpPr>
        <p:spPr>
          <a:xfrm>
            <a:off x="5779008" y="3255264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Data Visualization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5779008" y="3639312"/>
            <a:ext cx="2788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Time-series line charts (S/I/R curves)  ·  Geographic heat-map rendering  ·  Responsive dashboard layout  ·  Color-coded risk intensity mapping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"/>
          <p:cNvSpPr/>
          <p:nvPr/>
        </p:nvSpPr>
        <p:spPr>
          <a:xfrm>
            <a:off x="0" y="0"/>
            <a:ext cx="9144000" cy="10791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0" y="1042416"/>
            <a:ext cx="91440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411480" y="201168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Principle &amp; Methodology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365760" y="1261872"/>
            <a:ext cx="2697600" cy="160020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365760" y="1261872"/>
            <a:ext cx="594300" cy="34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365760" y="1261872"/>
            <a:ext cx="59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8" name="Google Shape;4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13167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8"/>
          <p:cNvSpPr/>
          <p:nvPr/>
        </p:nvSpPr>
        <p:spPr>
          <a:xfrm>
            <a:off x="457200" y="1645920"/>
            <a:ext cx="251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Select Disease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457200" y="2011680"/>
            <a:ext cx="2514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User selects COVID-19, Influenza, Dengue, or Malaria from the simulation dashboard.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3291840" y="1261872"/>
            <a:ext cx="2697600" cy="160020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3291840" y="1261872"/>
            <a:ext cx="594300" cy="347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3291840" y="1261872"/>
            <a:ext cx="59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4" name="Google Shape;43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0680" y="13167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8"/>
          <p:cNvSpPr/>
          <p:nvPr/>
        </p:nvSpPr>
        <p:spPr>
          <a:xfrm>
            <a:off x="3383280" y="1645920"/>
            <a:ext cx="251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Input Parameters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3383280" y="2011680"/>
            <a:ext cx="2514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Enter population size, β (infection rate), γ (recovery rate), and simulation duration.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6217920" y="1261872"/>
            <a:ext cx="2697600" cy="160020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6217920" y="1261872"/>
            <a:ext cx="594300" cy="34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6217920" y="1261872"/>
            <a:ext cx="59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0" name="Google Shape;4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6760" y="13167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8"/>
          <p:cNvSpPr/>
          <p:nvPr/>
        </p:nvSpPr>
        <p:spPr>
          <a:xfrm>
            <a:off x="6309360" y="1645920"/>
            <a:ext cx="251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Run Simulation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6309360" y="2011680"/>
            <a:ext cx="2514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The platform solves SIR/SEIR differential equations iteratively over each time step.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365760" y="3090672"/>
            <a:ext cx="2697600" cy="160020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365760" y="3090672"/>
            <a:ext cx="594300" cy="347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365760" y="3090672"/>
            <a:ext cx="59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6" name="Google Shape;44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4600" y="31455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8"/>
          <p:cNvSpPr/>
          <p:nvPr/>
        </p:nvSpPr>
        <p:spPr>
          <a:xfrm>
            <a:off x="457200" y="3474720"/>
            <a:ext cx="251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View SIR Graph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457200" y="3840480"/>
            <a:ext cx="2514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A live-updating graph plots Susceptible (blue), Infected (red), and Recovered (green) trends.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3291840" y="3090672"/>
            <a:ext cx="2697600" cy="160020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3291840" y="3090672"/>
            <a:ext cx="594300" cy="347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3291840" y="3090672"/>
            <a:ext cx="59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40680" y="31455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8"/>
          <p:cNvSpPr/>
          <p:nvPr/>
        </p:nvSpPr>
        <p:spPr>
          <a:xfrm>
            <a:off x="3383280" y="3474720"/>
            <a:ext cx="251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Geo-Map Spread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3383280" y="3840480"/>
            <a:ext cx="2514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The map view heat-maps disease spread intensity across regions and updates in real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6217920" y="3090672"/>
            <a:ext cx="2697600" cy="160020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6217920" y="3090672"/>
            <a:ext cx="594300" cy="347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6217920" y="3090672"/>
            <a:ext cx="59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8" name="Google Shape;45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6760" y="31455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8"/>
          <p:cNvSpPr/>
          <p:nvPr/>
        </p:nvSpPr>
        <p:spPr>
          <a:xfrm>
            <a:off x="6309360" y="3474720"/>
            <a:ext cx="251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Ask the Chatbot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6309360" y="3840480"/>
            <a:ext cx="2514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C5D8"/>
                </a:solidFill>
                <a:latin typeface="Calibri"/>
                <a:ea typeface="Calibri"/>
                <a:cs typeface="Calibri"/>
                <a:sym typeface="Calibri"/>
              </a:rPr>
              <a:t>Users query the integrated AI chatbot for symptoms, prevention, and outbreak context.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3108960" y="2121408"/>
            <a:ext cx="1371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6035040" y="2121408"/>
            <a:ext cx="1371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3108960" y="3950208"/>
            <a:ext cx="1371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6035040" y="3950208"/>
            <a:ext cx="1371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0"/>
          <p:cNvSpPr/>
          <p:nvPr/>
        </p:nvSpPr>
        <p:spPr>
          <a:xfrm>
            <a:off x="-11743" y="0"/>
            <a:ext cx="9144000" cy="10242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0" y="987552"/>
            <a:ext cx="91440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411480" y="18288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References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411480" y="1097280"/>
            <a:ext cx="493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7" name="Google Shape;4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54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0"/>
          <p:cNvSpPr/>
          <p:nvPr/>
        </p:nvSpPr>
        <p:spPr>
          <a:xfrm>
            <a:off x="868680" y="1508760"/>
            <a:ext cx="4572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F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FF0"/>
                </a:solidFill>
                <a:latin typeface="Calibri"/>
                <a:ea typeface="Calibri"/>
                <a:cs typeface="Calibri"/>
                <a:sym typeface="Calibri"/>
              </a:rPr>
              <a:t>The platform bridges mathematical modeling and interactive visualization for intuitive disease spread understanding.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9" name="Google Shape;4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331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0"/>
          <p:cNvSpPr/>
          <p:nvPr/>
        </p:nvSpPr>
        <p:spPr>
          <a:xfrm>
            <a:off x="868680" y="2286000"/>
            <a:ext cx="4572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F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FF0"/>
                </a:solidFill>
                <a:latin typeface="Calibri"/>
                <a:ea typeface="Calibri"/>
                <a:cs typeface="Calibri"/>
                <a:sym typeface="Calibri"/>
              </a:rPr>
              <a:t>Supporting multiple diseases — COVID-19, Influenza, Dengue, and Malaria — makes it a versatile, general-purpose tool.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1" name="Google Shape;4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1089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0"/>
          <p:cNvSpPr/>
          <p:nvPr/>
        </p:nvSpPr>
        <p:spPr>
          <a:xfrm>
            <a:off x="868680" y="3063240"/>
            <a:ext cx="4572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F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FF0"/>
                </a:solidFill>
                <a:latin typeface="Calibri"/>
                <a:ea typeface="Calibri"/>
                <a:cs typeface="Calibri"/>
                <a:sym typeface="Calibri"/>
              </a:rPr>
              <a:t>The integrated chatbot enhances user engagement and provides contextual disease awareness at every step.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3" name="Google Shape;4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8862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0"/>
          <p:cNvSpPr/>
          <p:nvPr/>
        </p:nvSpPr>
        <p:spPr>
          <a:xfrm>
            <a:off x="868680" y="3840480"/>
            <a:ext cx="4572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F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FF0"/>
                </a:solidFill>
                <a:latin typeface="Calibri"/>
                <a:ea typeface="Calibri"/>
                <a:cs typeface="Calibri"/>
                <a:sym typeface="Calibri"/>
              </a:rPr>
              <a:t>Future expansion via ML-driven forecasting and live data feeds will further enhance its real-world applicability.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5760720" y="1042416"/>
            <a:ext cx="3200400" cy="40965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5897880" y="1115568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5897880" y="160020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[1] W. O. Kermack and A. G. McKendrick, "A Contribution to the Mathematical Theory of Epidemics," Proc. R. Soc. London A, vol. 115, no. 772, pp. 700-721, 1927.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5943600" y="2221992"/>
            <a:ext cx="2834700" cy="13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5897880" y="2267712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[2] World Health Organization, "Dengue and Severe Dengue," WHO Fact Sheet, 2023. [Online]. Available: https://www.who.int/news-room/fact-sheets/detail/dengue-and-severe-dengue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5943600" y="2889504"/>
            <a:ext cx="2834700" cy="13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5897880" y="2935224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[3] J. Ma and D. Earn, "Generality of the Final Size Formula," Bull. Math. Biol., vol. 68, no. 3, pp. 679-702, 2006.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5943600" y="3557016"/>
            <a:ext cx="2834700" cy="13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5897880" y="3602736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[4]Dr.Saroj Revankar</a:t>
            </a:r>
            <a:endParaRPr b="0" i="0" sz="850" u="none" cap="none" strike="noStrike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https://scholar.google.com/citations?view_op=view_citation&amp;hl=en&amp;user=6Qw5PtgAAAAJ&amp;citation_for_view=6Qw5PtgAAAAJ:zYLM7Y9cAGgC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5943600" y="4224528"/>
            <a:ext cx="2834700" cy="13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5897880" y="4270248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[5] CDC, "Influenza (Flu) – Key Facts," Centers for Disease Control and Prevention, 2024. [Online]. Available: https://www.cdc.gov/flu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411480" y="4709160"/>
            <a:ext cx="5120700" cy="34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411480" y="4709160"/>
            <a:ext cx="5120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 for your attention  —  Questions are welcome!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SDG Goals for the simulation model </a:t>
            </a:r>
            <a:endParaRPr/>
          </a:p>
        </p:txBody>
      </p:sp>
      <p:sp>
        <p:nvSpPr>
          <p:cNvPr id="471" name="Google Shape;471;p19"/>
          <p:cNvSpPr txBox="1"/>
          <p:nvPr>
            <p:ph idx="1" type="body"/>
          </p:nvPr>
        </p:nvSpPr>
        <p:spPr>
          <a:xfrm>
            <a:off x="623400" y="125601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SDG 3 · Good Health &amp; Well-being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Stronger health systems increase the recovery rate (γ), reducing disease burden and duration of outbreaks.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SDG 6 · Clean Water &amp; Sanitation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Improved sanitation directly lowers the infection transmission rate (β), slowing the spread at its source.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SDG 10 · Reduced Inequalities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Closing equity gaps ensures uniform treatment access across populations, preventing marginalised groups from becoming persistent reservoirs.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-dark-2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